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6" r:id="rId9"/>
    <p:sldId id="262" r:id="rId10"/>
    <p:sldId id="263" r:id="rId11"/>
    <p:sldId id="264" r:id="rId12"/>
  </p:sldIdLst>
  <p:sldSz cx="12192000" cy="6858000"/>
  <p:notesSz cx="6858000" cy="9144000"/>
  <p:embeddedFontLst>
    <p:embeddedFont>
      <p:font typeface="Lato" panose="020F0502020204030203" pitchFamily="34" charset="0"/>
      <p:regular r:id="rId14"/>
      <p:bold r:id="rId15"/>
      <p:italic r:id="rId16"/>
      <p:boldItalic r:id="rId17"/>
    </p:embeddedFont>
    <p:embeddedFont>
      <p:font typeface="Poppins" panose="000005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8E016E3-D0B6-4A26-AAB1-20C978B0B036}">
  <a:tblStyle styleId="{F8E016E3-D0B6-4A26-AAB1-20C978B0B03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7" d="100"/>
          <a:sy n="97" d="100"/>
        </p:scale>
        <p:origin x="107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770459" y="2232719"/>
            <a:ext cx="8651081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Aircraft Performance Analysis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976437" y="3185219"/>
            <a:ext cx="8239125" cy="476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976437" y="3423344"/>
            <a:ext cx="82391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Bridging Theoretical Hand Calculations with OpenAP Simulation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619750" y="3979515"/>
            <a:ext cx="952500" cy="381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976437" y="4208115"/>
            <a:ext cx="82391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Group 5: Michael Muchemi &amp; Allan Kiprop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4BE0C2D0-B524-D543-B06D-F1CE10F21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CC5F204C-B47E-FC43-5B70-03E2ED6EBE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324" y="3077497"/>
            <a:ext cx="5712542" cy="2015613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en-US" sz="2500" b="1" dirty="0">
                <a:solidFill>
                  <a:srgbClr val="00B050"/>
                </a:solidFill>
              </a:rPr>
              <a:t>Distance:</a:t>
            </a:r>
            <a:r>
              <a:rPr lang="en-US" sz="2500" dirty="0">
                <a:solidFill>
                  <a:srgbClr val="00B050"/>
                </a:solidFill>
              </a:rPr>
              <a:t> 2,900 NM — </a:t>
            </a:r>
            <a:r>
              <a:rPr lang="en-US" sz="2500" dirty="0">
                <a:solidFill>
                  <a:srgbClr val="002060"/>
                </a:solidFill>
              </a:rPr>
              <a:t>Long-range Narrowbody sector across the Indian Ocean.</a:t>
            </a:r>
          </a:p>
          <a:p>
            <a:pPr algn="l"/>
            <a:r>
              <a:rPr lang="en-US" sz="2500" dirty="0">
                <a:solidFill>
                  <a:srgbClr val="00B050"/>
                </a:solidFill>
              </a:rPr>
              <a:t>Flight Time: ~</a:t>
            </a:r>
            <a:r>
              <a:rPr lang="en-US" sz="2500" dirty="0">
                <a:solidFill>
                  <a:srgbClr val="002060"/>
                </a:solidFill>
              </a:rPr>
              <a:t>6.9 hours at constant Mach 0.78.</a:t>
            </a:r>
          </a:p>
          <a:p>
            <a:pPr algn="l"/>
            <a:r>
              <a:rPr lang="en-US" sz="2500" b="1" dirty="0">
                <a:solidFill>
                  <a:srgbClr val="00B050"/>
                </a:solidFill>
              </a:rPr>
              <a:t>Route</a:t>
            </a:r>
            <a:r>
              <a:rPr lang="en-US" sz="2500" b="1" dirty="0">
                <a:solidFill>
                  <a:srgbClr val="002060"/>
                </a:solidFill>
              </a:rPr>
              <a:t>:</a:t>
            </a:r>
            <a:r>
              <a:rPr lang="en-US" sz="2500" dirty="0">
                <a:solidFill>
                  <a:srgbClr val="002060"/>
                </a:solidFill>
              </a:rPr>
              <a:t> Jomo Kenyatta (NBO) to Chhatrapati Shivaji (BOM).</a:t>
            </a:r>
          </a:p>
          <a:p>
            <a:pPr algn="l"/>
            <a:endParaRPr lang="en-US" sz="2500" dirty="0">
              <a:solidFill>
                <a:srgbClr val="00B050"/>
              </a:solidFill>
            </a:endParaRPr>
          </a:p>
          <a:p>
            <a:pPr algn="l"/>
            <a:r>
              <a:rPr lang="en-US" sz="2500" b="1" dirty="0">
                <a:solidFill>
                  <a:srgbClr val="00B050"/>
                </a:solidFill>
              </a:rPr>
              <a:t>ISA Standardization:</a:t>
            </a:r>
            <a:r>
              <a:rPr lang="en-US" sz="2500" dirty="0">
                <a:solidFill>
                  <a:srgbClr val="00B050"/>
                </a:solidFill>
              </a:rPr>
              <a:t> </a:t>
            </a:r>
            <a:r>
              <a:rPr lang="en-US" sz="2500" dirty="0">
                <a:solidFill>
                  <a:srgbClr val="002060"/>
                </a:solidFill>
              </a:rPr>
              <a:t>Removes weather variables to isolate pure airframe efficiency.</a:t>
            </a:r>
            <a:br>
              <a:rPr lang="en-US" dirty="0">
                <a:solidFill>
                  <a:srgbClr val="002060"/>
                </a:solidFill>
              </a:rPr>
            </a:b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197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38450"/>
            <a:ext cx="5334000" cy="2952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622370"/>
            <a:ext cx="5334000" cy="267831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1943100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 ensure maximum accuracy, we used a two-pronged engineering validation workflow for both the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Single Flight Phase (Cruise)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and the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Lift-Drag Polar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/>
          </a:p>
        </p:txBody>
      </p:sp>
      <p:pic>
        <p:nvPicPr>
          <p:cNvPr id="98" name="Google Shape;9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" y="3133725"/>
            <a:ext cx="187642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819150" y="3467100"/>
            <a:ext cx="508063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Theoretical Hand Calculations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819150" y="3848100"/>
            <a:ext cx="48387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34150" y="3133725"/>
            <a:ext cx="23812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6534150" y="3467100"/>
            <a:ext cx="508063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OpenAP Model Scripts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6534150" y="3848100"/>
            <a:ext cx="48387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104900" y="401859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200150" y="4019550"/>
            <a:ext cx="44577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Applied classical International Standard Atmosphere (ISA) equations.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104900" y="456717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200150" y="4568130"/>
            <a:ext cx="44577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Derived fundamental steady level flight balances (Lift = Weight, Thrust = Drag).</a:t>
            </a:r>
            <a:endParaRPr dirty="0"/>
          </a:p>
        </p:txBody>
      </p:sp>
      <p:sp>
        <p:nvSpPr>
          <p:cNvPr id="108" name="Google Shape;108;p14"/>
          <p:cNvSpPr txBox="1"/>
          <p:nvPr/>
        </p:nvSpPr>
        <p:spPr>
          <a:xfrm>
            <a:off x="1104900" y="511575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200150" y="5116710"/>
            <a:ext cx="44577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Established textbook parabolic curves for the drag polars.</a:t>
            </a:r>
            <a:endParaRPr dirty="0"/>
          </a:p>
        </p:txBody>
      </p:sp>
      <p:sp>
        <p:nvSpPr>
          <p:cNvPr id="110" name="Google Shape;110;p14"/>
          <p:cNvSpPr txBox="1"/>
          <p:nvPr/>
        </p:nvSpPr>
        <p:spPr>
          <a:xfrm>
            <a:off x="6819900" y="401859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7038975" y="3940882"/>
            <a:ext cx="44577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Implemented Python scripts leveraging the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OpenAP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library.</a:t>
            </a:r>
            <a:endParaRPr sz="1200" dirty="0"/>
          </a:p>
        </p:txBody>
      </p:sp>
      <p:sp>
        <p:nvSpPr>
          <p:cNvPr id="112" name="Google Shape;112;p14"/>
          <p:cNvSpPr txBox="1"/>
          <p:nvPr/>
        </p:nvSpPr>
        <p:spPr>
          <a:xfrm>
            <a:off x="6819900" y="429288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13" name="Google Shape;113;p14"/>
          <p:cNvSpPr txBox="1"/>
          <p:nvPr/>
        </p:nvSpPr>
        <p:spPr>
          <a:xfrm>
            <a:off x="7038975" y="4259005"/>
            <a:ext cx="44577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Extracted high-fidelity empirical aircraft coefficients.</a:t>
            </a:r>
            <a:endParaRPr dirty="0"/>
          </a:p>
        </p:txBody>
      </p:sp>
      <p:sp>
        <p:nvSpPr>
          <p:cNvPr id="114" name="Google Shape;114;p14"/>
          <p:cNvSpPr txBox="1"/>
          <p:nvPr/>
        </p:nvSpPr>
        <p:spPr>
          <a:xfrm>
            <a:off x="6819900" y="456717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915150" y="4568130"/>
            <a:ext cx="44577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Validated hand-calculated variables against data-driven kinematic flight physics.</a:t>
            </a:r>
            <a:endParaRPr dirty="0"/>
          </a:p>
        </p:txBody>
      </p:sp>
      <p:sp>
        <p:nvSpPr>
          <p:cNvPr id="116" name="Google Shape;116;p14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Our Engineering Approach: How We Tackled It</a:t>
            </a:r>
            <a:endParaRPr/>
          </a:p>
        </p:txBody>
      </p:sp>
      <p:sp>
        <p:nvSpPr>
          <p:cNvPr id="117" name="Google Shape;117;p14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431827"/>
            <a:ext cx="533400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231927"/>
            <a:ext cx="533400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032027"/>
            <a:ext cx="5334000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864072"/>
            <a:ext cx="140017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571500" y="2197447"/>
            <a:ext cx="560070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1. Governing Equations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571500" y="2578447"/>
            <a:ext cx="5334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571500" y="2740372"/>
            <a:ext cx="5334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For steady, unaccelerated level cruise, we solved the equilibrium equations by hand: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286500" y="1864072"/>
            <a:ext cx="560070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2. Hand-Derived Steps (B738)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6286500" y="2245072"/>
            <a:ext cx="5334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6572250" y="351273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39" name="Google Shape;139;p15"/>
          <p:cNvSpPr txBox="1"/>
          <p:nvPr/>
        </p:nvSpPr>
        <p:spPr>
          <a:xfrm>
            <a:off x="6462712" y="2752818"/>
            <a:ext cx="4953000" cy="1994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endParaRPr lang="en-US" sz="1350" dirty="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lvl="0">
              <a:lnSpc>
                <a:spcPct val="160000"/>
              </a:lnSpc>
            </a:pPr>
            <a:r>
              <a:rPr lang="en-US" sz="135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- Mass: 71,100 kg  →  Weight: 697,253 N</a:t>
            </a:r>
          </a:p>
          <a:p>
            <a:pPr lvl="0">
              <a:lnSpc>
                <a:spcPct val="160000"/>
              </a:lnSpc>
            </a:pPr>
            <a:r>
              <a:rPr lang="en-US" sz="135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- Air density (</a:t>
            </a:r>
            <a:r>
              <a:rPr lang="el-GR" sz="135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ρ): </a:t>
            </a:r>
            <a:r>
              <a:rPr lang="en-US" sz="135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Calculated at 37,000 ft using standard lapse rates → 0.3548 kg/m³</a:t>
            </a:r>
          </a:p>
          <a:p>
            <a:pPr lvl="0">
              <a:lnSpc>
                <a:spcPct val="160000"/>
              </a:lnSpc>
            </a:pPr>
            <a:r>
              <a:rPr lang="en-US" sz="135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- Velocity (V): 800 km/h → 222.2 m/s</a:t>
            </a:r>
          </a:p>
          <a:p>
            <a:pPr lvl="0">
              <a:lnSpc>
                <a:spcPct val="160000"/>
              </a:lnSpc>
            </a:pPr>
            <a:r>
              <a:rPr lang="en-US" sz="135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- Wing area (S): B737-800 baseline reference → 124.6 m²</a:t>
            </a:r>
            <a:endParaRPr dirty="0"/>
          </a:p>
        </p:txBody>
      </p:sp>
      <p:sp>
        <p:nvSpPr>
          <p:cNvPr id="140" name="Google Shape;140;p15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Single Flight Phase: Hand Calculation Framework</a:t>
            </a:r>
            <a:endParaRPr/>
          </a:p>
        </p:txBody>
      </p:sp>
      <p:sp>
        <p:nvSpPr>
          <p:cNvPr id="141" name="Google Shape;141;p15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49734"/>
            <a:ext cx="1104900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571500" y="1783109"/>
            <a:ext cx="11049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Instead of hardcoding lookup tables, we wrote scripts using `openap.Drag` and `openap.prop` to instantly fetch atmospheric variables and compute real-time drag: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Single Flight Phase: OpenAP Code Automation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571500" y="1884164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Cross-referencing our hand-derived performance values against OpenAP outputs confirmed our analytical approach was highly precise: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571500" y="5158680"/>
            <a:ext cx="11049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Conclusion: The sub-1% discrepancy verifies that OpenAP's underlying dynamic models tightly match traditional ISA performance assumptions during clean configuration level cruise.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571500" y="2396579"/>
            <a:ext cx="11049000" cy="257160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9" name="Google Shape;159;p17"/>
          <p:cNvGraphicFramePr/>
          <p:nvPr>
            <p:extLst>
              <p:ext uri="{D42A27DB-BD31-4B8C-83A1-F6EECF244321}">
                <p14:modId xmlns:p14="http://schemas.microsoft.com/office/powerpoint/2010/main" val="3397574005"/>
              </p:ext>
            </p:extLst>
          </p:nvPr>
        </p:nvGraphicFramePr>
        <p:xfrm>
          <a:off x="571500" y="2396579"/>
          <a:ext cx="11039500" cy="2571625"/>
        </p:xfrm>
        <a:graphic>
          <a:graphicData uri="http://schemas.openxmlformats.org/drawingml/2006/table">
            <a:tbl>
              <a:tblPr firstRow="1" bandRow="1">
                <a:noFill/>
                <a:tableStyleId>{F8E016E3-D0B6-4A26-AAB1-20C978B0B036}</a:tableStyleId>
              </a:tblPr>
              <a:tblGrid>
                <a:gridCol w="3150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3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Performance Metric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Hand Calculations (Theoretical)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OpenAP Scripted Values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Variance (%)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Air Density </a:t>
                      </a: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at 37k ft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0.3548 kg/m³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0.3545 kg/m³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0.08%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Dynamic Pressure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9,736.79 Pa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9,728.55 Pa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0.08%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Lift Coefficient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0.5747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0.5752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0.09%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Total Cruise Drag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39,881.33 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39,910.40 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0.07%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0" name="Google Shape;160;p17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Single Phase Results: Verification Matrix</a:t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48930"/>
            <a:ext cx="5334000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878585"/>
            <a:ext cx="533400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0" y="3526035"/>
            <a:ext cx="4953000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055465"/>
            <a:ext cx="140017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571500" y="2388840"/>
            <a:ext cx="560070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Parabolic Drag Polar Law</a:t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571500" y="2769840"/>
            <a:ext cx="5334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571500" y="2931765"/>
            <a:ext cx="5334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By hand, we broken down total drag into parasitic and induced elements: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571500" y="4187130"/>
            <a:ext cx="5334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Where the induced drag factor $K$ is dependent on aspect ratio ($AR$) and Oswald efficiency ($e$):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6286500" y="2055465"/>
            <a:ext cx="560070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Analytical Objectives</a:t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6286500" y="2436465"/>
            <a:ext cx="5334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6572250" y="260696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6667500" y="2607915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Isolate the baseline profile zero-lift component ($C_{D,0}$).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6572250" y="288125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6667500" y="2882205"/>
            <a:ext cx="49530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Solve for the maximum lift-to-drag efficiency vector (L/D_{max}) by finding where parasitic drag exactly equals induced drag:</a:t>
            </a:r>
            <a:endParaRPr dirty="0"/>
          </a:p>
        </p:txBody>
      </p:sp>
      <p:sp>
        <p:nvSpPr>
          <p:cNvPr id="181" name="Google Shape;181;p18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Lift-Drag Polar: Theoretical Formulation</a:t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C5E26-8C5B-9BB0-2CD9-AD90991866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8C4FCD-27AC-5F72-D4DE-9692323B5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5291" y="4381789"/>
            <a:ext cx="6400800" cy="244734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• T</a:t>
            </a:r>
            <a:r>
              <a:rPr lang="en-US" sz="1300" dirty="0">
                <a:solidFill>
                  <a:srgbClr val="002060"/>
                </a:solidFill>
              </a:rPr>
              <a:t>he Boeing 737-800 has 0.2 points higher maximum L/D ratio, indicating better aerodynamic efficiency during cruise.</a:t>
            </a:r>
          </a:p>
          <a:p>
            <a:r>
              <a:rPr lang="en-US" sz="1300" dirty="0">
                <a:solidFill>
                  <a:srgbClr val="002060"/>
                </a:solidFill>
              </a:rPr>
              <a:t> • The B738's lower CD0 (0.0190 vs 0.0200) contributes to its superior lift-to-drag performance. </a:t>
            </a:r>
          </a:p>
          <a:p>
            <a:r>
              <a:rPr lang="en-US" sz="1300" dirty="0">
                <a:solidFill>
                  <a:srgbClr val="002060"/>
                </a:solidFill>
              </a:rPr>
              <a:t>• Both aircraft achieve peak efficiency at CL ≈ 0.68–0.70, which corresponds to typical cruise conditions.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22399B-E2AD-23B2-D4A0-1ECEA180C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58" y="28863"/>
            <a:ext cx="9323888" cy="4203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338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49734"/>
            <a:ext cx="1104900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571500" y="1783109"/>
            <a:ext cx="11049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 generate the full drag polar envelope, we wrote a script using NumPy to sweep across various coefficients, programmatically resolving the curve for both aircraft styles: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Lift-Drag Polar: Sweeping Curves via Code</a:t>
            </a:r>
            <a:endParaRPr/>
          </a:p>
        </p:txBody>
      </p:sp>
      <p:sp>
        <p:nvSpPr>
          <p:cNvPr id="191" name="Google Shape;191;p19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571500" y="1776561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Merging the computational sweeps with hand calculations highlighted clear design differences between the two airframes:</a:t>
            </a:r>
            <a:endParaRPr/>
          </a:p>
        </p:txBody>
      </p:sp>
      <p:sp>
        <p:nvSpPr>
          <p:cNvPr id="198" name="Google Shape;198;p20"/>
          <p:cNvSpPr/>
          <p:nvPr/>
        </p:nvSpPr>
        <p:spPr>
          <a:xfrm>
            <a:off x="571500" y="2288976"/>
            <a:ext cx="11049000" cy="366876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9" name="Google Shape;199;p20"/>
          <p:cNvGraphicFramePr/>
          <p:nvPr>
            <p:extLst>
              <p:ext uri="{D42A27DB-BD31-4B8C-83A1-F6EECF244321}">
                <p14:modId xmlns:p14="http://schemas.microsoft.com/office/powerpoint/2010/main" val="953103008"/>
              </p:ext>
            </p:extLst>
          </p:nvPr>
        </p:nvGraphicFramePr>
        <p:xfrm>
          <a:off x="571500" y="2288976"/>
          <a:ext cx="11039450" cy="3668750"/>
        </p:xfrm>
        <a:graphic>
          <a:graphicData uri="http://schemas.openxmlformats.org/drawingml/2006/table">
            <a:tbl>
              <a:tblPr firstRow="1" bandRow="1">
                <a:noFill/>
                <a:tableStyleId>{F8E016E3-D0B6-4A26-AAB1-20C978B0B036}</a:tableStyleId>
              </a:tblPr>
              <a:tblGrid>
                <a:gridCol w="2885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0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1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3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Aerodynamic Parameter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Boeing 737-800 Profile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Airbus A321 Profile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Engineering Distinction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3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Zero-Lift Drag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0.0190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0.0200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B738 profile features cleaner parasite drag geometry.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3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Induced Factor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0.0420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0.0410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A321 exhibits slightly better induced wing distribution.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Optimum Efficiency (L/D_{max})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17.7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17.5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B738 achieves higher overall efficiency peak.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3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Optimum C_L Point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0.675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0.699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A321 works more efficiently under heavier load targets.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0" name="Google Shape;200;p20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Polar Insights: Theoretical vs Automated Sync</a:t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1595437" y="1892647"/>
            <a:ext cx="90011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Methodology Summary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1809750" y="2416522"/>
            <a:ext cx="8572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Why This Integrated Workflow Excelled</a:t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5619750" y="2972692"/>
            <a:ext cx="952500" cy="381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1809750" y="3391792"/>
            <a:ext cx="85725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 Double Verification: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By proving that our formulas computed by hand matched the OpenAP output down to a decimal fraction, we verified the foundational physics before running larger route simulations.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1809750" y="4273748"/>
            <a:ext cx="85725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 Rapid Scalability: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While the hand calculation took hours to refine for a single cruise point, the Python code allowed us to seamlessly map entire polar sweeps across multi-phase trajectories (NBO → BOM).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743</Words>
  <Application>Microsoft Office PowerPoint</Application>
  <PresentationFormat>Widescreen</PresentationFormat>
  <Paragraphs>99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Arial</vt:lpstr>
      <vt:lpstr>Poppins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Michael Muchemi</cp:lastModifiedBy>
  <cp:revision>2</cp:revision>
  <dcterms:modified xsi:type="dcterms:W3CDTF">2026-05-21T10:25:18Z</dcterms:modified>
</cp:coreProperties>
</file>